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 Semi-Bold" charset="1" panose="00000700000000000000"/>
      <p:regular r:id="rId15"/>
    </p:embeddedFont>
    <p:embeddedFont>
      <p:font typeface="Prata" charset="1" panose="00000500000000000000"/>
      <p:regular r:id="rId16"/>
    </p:embeddedFont>
    <p:embeddedFont>
      <p:font typeface="Raleway" charset="1" panose="020B0503030101060003"/>
      <p:regular r:id="rId17"/>
    </p:embeddedFont>
    <p:embeddedFont>
      <p:font typeface="Cooper BT Light" charset="1" panose="0208050304030B020404"/>
      <p:regular r:id="rId18"/>
    </p:embeddedFon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  <p:embeddedFont>
      <p:font typeface="Canva Sans Bold" charset="1" panose="020B0803030501040103"/>
      <p:regular r:id="rId23"/>
    </p:embeddedFont>
    <p:embeddedFont>
      <p:font typeface="Raleway Bold" charset="1" panose="020B0803030101060003"/>
      <p:regular r:id="rId24"/>
    </p:embeddedFont>
    <p:embeddedFont>
      <p:font typeface="Poppins Medium" charset="1" panose="00000600000000000000"/>
      <p:regular r:id="rId25"/>
    </p:embeddedFont>
    <p:embeddedFont>
      <p:font typeface="Garet Bold" charset="1" panose="00000000000000000000"/>
      <p:regular r:id="rId26"/>
    </p:embeddedFont>
    <p:embeddedFont>
      <p:font typeface="Bahir" charset="1" panose="02000600000000000000"/>
      <p:regular r:id="rId27"/>
    </p:embeddedFont>
    <p:embeddedFont>
      <p:font typeface="Cy Grotesk Wide Bold" charset="1" panose="00000805000000000000"/>
      <p:regular r:id="rId28"/>
    </p:embeddedFont>
    <p:embeddedFont>
      <p:font typeface="TT Interphases" charset="1" panose="0200050302000002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53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6775" y="1323975"/>
            <a:ext cx="13994451" cy="762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b="true" sz="10000" spc="-100" u="sng">
                <a:solidFill>
                  <a:srgbClr val="EBE8D8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ARTIFICIAL INTELLIGENCE WAS NOT USE IN THE MAKING OF THIS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520876"/>
            <a:ext cx="18288000" cy="1766124"/>
            <a:chOff x="0" y="0"/>
            <a:chExt cx="12372622" cy="1194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1194859"/>
            </a:xfrm>
            <a:custGeom>
              <a:avLst/>
              <a:gdLst/>
              <a:ahLst/>
              <a:cxnLst/>
              <a:rect r="r" b="b" t="t" l="l"/>
              <a:pathLst>
                <a:path h="1194859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1194859"/>
                  </a:lnTo>
                  <a:lnTo>
                    <a:pt x="0" y="1194859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458250" y="2475295"/>
            <a:ext cx="6278935" cy="5651041"/>
          </a:xfrm>
          <a:custGeom>
            <a:avLst/>
            <a:gdLst/>
            <a:ahLst/>
            <a:cxnLst/>
            <a:rect r="r" b="b" t="t" l="l"/>
            <a:pathLst>
              <a:path h="5651041" w="6278935">
                <a:moveTo>
                  <a:pt x="0" y="0"/>
                </a:moveTo>
                <a:lnTo>
                  <a:pt x="6278935" y="0"/>
                </a:lnTo>
                <a:lnTo>
                  <a:pt x="6278935" y="5651041"/>
                </a:lnTo>
                <a:lnTo>
                  <a:pt x="0" y="5651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81116" y="3625215"/>
            <a:ext cx="12734892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sz="114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AMPHIBIANS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634001" y="1602170"/>
            <a:ext cx="12734892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PRESENTATION 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45763" y="9111521"/>
            <a:ext cx="7455128" cy="51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5"/>
              </a:lnSpc>
            </a:pPr>
            <a:r>
              <a:rPr lang="en-US" sz="3025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Arunima Shikshya Sadan Sec. School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58051" y="9099269"/>
            <a:ext cx="4101249" cy="53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50"/>
              </a:lnSpc>
            </a:pPr>
            <a:r>
              <a:rPr lang="en-US" sz="3107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Class  10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5625" y="9052144"/>
            <a:ext cx="3629967" cy="51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2946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2026 June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3B1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70651" y="0"/>
            <a:ext cx="1217349" cy="10287000"/>
            <a:chOff x="0" y="0"/>
            <a:chExt cx="411795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795" cy="3479800"/>
            </a:xfrm>
            <a:custGeom>
              <a:avLst/>
              <a:gdLst/>
              <a:ahLst/>
              <a:cxnLst/>
              <a:rect r="r" b="b" t="t" l="l"/>
              <a:pathLst>
                <a:path h="3479800" w="411795">
                  <a:moveTo>
                    <a:pt x="0" y="0"/>
                  </a:moveTo>
                  <a:lnTo>
                    <a:pt x="411795" y="0"/>
                  </a:lnTo>
                  <a:lnTo>
                    <a:pt x="411795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EBE8D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57250"/>
            <a:ext cx="6840275" cy="149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9"/>
              </a:lnSpc>
            </a:pPr>
            <a:r>
              <a:rPr lang="en-US" sz="8699">
                <a:solidFill>
                  <a:srgbClr val="344E41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43275"/>
            <a:ext cx="14709416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7" indent="-345439" lvl="1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344E41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3199">
                <a:solidFill>
                  <a:srgbClr val="344E41"/>
                </a:solidFill>
                <a:latin typeface="Open Sauce"/>
                <a:ea typeface="Open Sauce"/>
                <a:cs typeface="Open Sauce"/>
                <a:sym typeface="Open Sauce"/>
              </a:rPr>
              <a:t>mphibians are animals that can live both in water and on land.</a:t>
            </a:r>
          </a:p>
          <a:p>
            <a:pPr algn="just" marL="690877" indent="-345439" lvl="1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344E41"/>
                </a:solidFill>
                <a:latin typeface="Open Sauce"/>
                <a:ea typeface="Open Sauce"/>
                <a:cs typeface="Open Sauce"/>
                <a:sym typeface="Open Sauce"/>
              </a:rPr>
              <a:t>They are vertebrates, meaning they have a backbone.</a:t>
            </a:r>
          </a:p>
          <a:p>
            <a:pPr algn="just" marL="690877" indent="-345439" lvl="1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344E41"/>
                </a:solidFill>
                <a:latin typeface="Open Sauce"/>
                <a:ea typeface="Open Sauce"/>
                <a:cs typeface="Open Sauce"/>
                <a:sym typeface="Open Sauce"/>
              </a:rPr>
              <a:t>The word "amphibian" means "double life."</a:t>
            </a:r>
          </a:p>
          <a:p>
            <a:pPr algn="just" marL="690877" indent="-345439" lvl="1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344E41"/>
                </a:solidFill>
                <a:latin typeface="Open Sauce"/>
                <a:ea typeface="Open Sauce"/>
                <a:cs typeface="Open Sauce"/>
                <a:sym typeface="Open Sauce"/>
              </a:rPr>
              <a:t>Most amphibians start their lives in water and later move to land.</a:t>
            </a:r>
          </a:p>
          <a:p>
            <a:pPr algn="just" marL="690877" indent="-345439" lvl="1">
              <a:lnSpc>
                <a:spcPts val="4799"/>
              </a:lnSpc>
              <a:buFont typeface="Arial"/>
              <a:buChar char="•"/>
            </a:pPr>
            <a:r>
              <a:rPr lang="en-US" sz="3199">
                <a:solidFill>
                  <a:srgbClr val="344E41"/>
                </a:solidFill>
                <a:latin typeface="Open Sauce"/>
                <a:ea typeface="Open Sauce"/>
                <a:cs typeface="Open Sauce"/>
                <a:sym typeface="Open Sauce"/>
              </a:rPr>
              <a:t>Examples include frogs, toads, salamanders, and newts.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292522" y="4864735"/>
            <a:ext cx="77360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535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760038" y="6313399"/>
            <a:ext cx="4310613" cy="3973601"/>
          </a:xfrm>
          <a:custGeom>
            <a:avLst/>
            <a:gdLst/>
            <a:ahLst/>
            <a:cxnLst/>
            <a:rect r="r" b="b" t="t" l="l"/>
            <a:pathLst>
              <a:path h="3973601" w="4310613">
                <a:moveTo>
                  <a:pt x="0" y="0"/>
                </a:moveTo>
                <a:lnTo>
                  <a:pt x="4310613" y="0"/>
                </a:lnTo>
                <a:lnTo>
                  <a:pt x="4310613" y="3973601"/>
                </a:lnTo>
                <a:lnTo>
                  <a:pt x="0" y="3973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699999">
            <a:off x="14754250" y="-19713"/>
            <a:ext cx="2558405" cy="2096826"/>
          </a:xfrm>
          <a:custGeom>
            <a:avLst/>
            <a:gdLst/>
            <a:ahLst/>
            <a:cxnLst/>
            <a:rect r="r" b="b" t="t" l="l"/>
            <a:pathLst>
              <a:path h="2096826" w="2558405">
                <a:moveTo>
                  <a:pt x="0" y="0"/>
                </a:moveTo>
                <a:lnTo>
                  <a:pt x="2558405" y="0"/>
                </a:lnTo>
                <a:lnTo>
                  <a:pt x="2558405" y="2096826"/>
                </a:lnTo>
                <a:lnTo>
                  <a:pt x="0" y="2096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7668273"/>
            <a:ext cx="7536914" cy="159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5"/>
              </a:lnSpc>
              <a:spcBef>
                <a:spcPct val="0"/>
              </a:spcBef>
            </a:pPr>
            <a:r>
              <a:rPr lang="en-US" sz="302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Amphibians: Cold blooded vertebrates </a:t>
            </a:r>
          </a:p>
          <a:p>
            <a:pPr algn="ctr">
              <a:lnSpc>
                <a:spcPts val="4235"/>
              </a:lnSpc>
              <a:spcBef>
                <a:spcPct val="0"/>
              </a:spcBef>
            </a:pPr>
            <a:r>
              <a:rPr lang="en-US" sz="302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that live part of their life in water</a:t>
            </a:r>
          </a:p>
          <a:p>
            <a:pPr algn="ctr">
              <a:lnSpc>
                <a:spcPts val="4235"/>
              </a:lnSpc>
              <a:spcBef>
                <a:spcPct val="0"/>
              </a:spcBef>
            </a:pPr>
            <a:r>
              <a:rPr lang="en-US" sz="302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and part on land.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397360" y="4803244"/>
            <a:ext cx="4578088" cy="7998028"/>
          </a:xfrm>
          <a:custGeom>
            <a:avLst/>
            <a:gdLst/>
            <a:ahLst/>
            <a:cxnLst/>
            <a:rect r="r" b="b" t="t" l="l"/>
            <a:pathLst>
              <a:path h="7998028" w="4578088">
                <a:moveTo>
                  <a:pt x="4578088" y="0"/>
                </a:moveTo>
                <a:lnTo>
                  <a:pt x="0" y="0"/>
                </a:lnTo>
                <a:lnTo>
                  <a:pt x="0" y="7998029"/>
                </a:lnTo>
                <a:lnTo>
                  <a:pt x="4578088" y="7998029"/>
                </a:lnTo>
                <a:lnTo>
                  <a:pt x="457808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751031"/>
            <a:ext cx="7591473" cy="5507269"/>
          </a:xfrm>
          <a:custGeom>
            <a:avLst/>
            <a:gdLst/>
            <a:ahLst/>
            <a:cxnLst/>
            <a:rect r="r" b="b" t="t" l="l"/>
            <a:pathLst>
              <a:path h="5507269" w="7591473">
                <a:moveTo>
                  <a:pt x="0" y="0"/>
                </a:moveTo>
                <a:lnTo>
                  <a:pt x="7591473" y="0"/>
                </a:lnTo>
                <a:lnTo>
                  <a:pt x="7591473" y="5507269"/>
                </a:lnTo>
                <a:lnTo>
                  <a:pt x="0" y="5507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9360"/>
            <a:ext cx="8693672" cy="287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344E41"/>
                </a:solidFill>
                <a:latin typeface="Poppins"/>
                <a:ea typeface="Poppins"/>
                <a:cs typeface="Poppins"/>
                <a:sym typeface="Poppins"/>
              </a:rPr>
              <a:t>Charac</a:t>
            </a:r>
            <a:r>
              <a:rPr lang="en-US" sz="8000">
                <a:solidFill>
                  <a:srgbClr val="344E41"/>
                </a:solidFill>
                <a:latin typeface="Poppins"/>
                <a:ea typeface="Poppins"/>
                <a:cs typeface="Poppins"/>
                <a:sym typeface="Poppins"/>
              </a:rPr>
              <a:t>teristics of Amphibians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1066801"/>
            <a:ext cx="7040697" cy="841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0789" indent="-305395" lvl="1">
              <a:lnSpc>
                <a:spcPts val="3960"/>
              </a:lnSpc>
              <a:buFont typeface="Arial"/>
              <a:buChar char="•"/>
            </a:pPr>
            <a:r>
              <a:rPr lang="en-US" b="true" sz="2829">
                <a:solidFill>
                  <a:srgbClr val="344E41"/>
                </a:solidFill>
                <a:latin typeface="Poppins Bold"/>
                <a:ea typeface="Poppins Bold"/>
                <a:cs typeface="Poppins Bold"/>
                <a:sym typeface="Poppins Bold"/>
              </a:rPr>
              <a:t>They a</a:t>
            </a:r>
            <a:r>
              <a:rPr lang="en-US" b="true" sz="2829">
                <a:solidFill>
                  <a:srgbClr val="344E41"/>
                </a:solidFill>
                <a:latin typeface="Poppins Bold"/>
                <a:ea typeface="Poppins Bold"/>
                <a:cs typeface="Poppins Bold"/>
                <a:sym typeface="Poppins Bold"/>
              </a:rPr>
              <a:t>re cold-blooded animals.</a:t>
            </a:r>
          </a:p>
          <a:p>
            <a:pPr algn="just">
              <a:lnSpc>
                <a:spcPts val="3960"/>
              </a:lnSpc>
            </a:pPr>
          </a:p>
          <a:p>
            <a:pPr algn="just" marL="610789" indent="-305395" lvl="1">
              <a:lnSpc>
                <a:spcPts val="3960"/>
              </a:lnSpc>
              <a:buFont typeface="Arial"/>
              <a:buChar char="•"/>
            </a:pPr>
            <a:r>
              <a:rPr lang="en-US" b="true" sz="2829">
                <a:solidFill>
                  <a:srgbClr val="344E41"/>
                </a:solidFill>
                <a:latin typeface="Poppins Bold"/>
                <a:ea typeface="Poppins Bold"/>
                <a:cs typeface="Poppins Bold"/>
                <a:sym typeface="Poppins Bold"/>
              </a:rPr>
              <a:t>Their skin is smooth, moist, and without scales.</a:t>
            </a:r>
          </a:p>
          <a:p>
            <a:pPr algn="just">
              <a:lnSpc>
                <a:spcPts val="3960"/>
              </a:lnSpc>
            </a:pPr>
          </a:p>
          <a:p>
            <a:pPr algn="just" marL="610789" indent="-305395" lvl="1">
              <a:lnSpc>
                <a:spcPts val="3960"/>
              </a:lnSpc>
              <a:buFont typeface="Arial"/>
              <a:buChar char="•"/>
            </a:pPr>
            <a:r>
              <a:rPr lang="en-US" b="true" sz="2829">
                <a:solidFill>
                  <a:srgbClr val="344E41"/>
                </a:solidFill>
                <a:latin typeface="Poppins Bold"/>
                <a:ea typeface="Poppins Bold"/>
                <a:cs typeface="Poppins Bold"/>
                <a:sym typeface="Poppins Bold"/>
              </a:rPr>
              <a:t>They can breathe through their skin and lungs.</a:t>
            </a:r>
          </a:p>
          <a:p>
            <a:pPr algn="just">
              <a:lnSpc>
                <a:spcPts val="3960"/>
              </a:lnSpc>
            </a:pPr>
          </a:p>
          <a:p>
            <a:pPr algn="just" marL="610789" indent="-305395" lvl="1">
              <a:lnSpc>
                <a:spcPts val="3960"/>
              </a:lnSpc>
              <a:buFont typeface="Arial"/>
              <a:buChar char="•"/>
            </a:pPr>
            <a:r>
              <a:rPr lang="en-US" b="true" sz="2829">
                <a:solidFill>
                  <a:srgbClr val="344E41"/>
                </a:solidFill>
                <a:latin typeface="Poppins Bold"/>
                <a:ea typeface="Poppins Bold"/>
                <a:cs typeface="Poppins Bold"/>
                <a:sym typeface="Poppins Bold"/>
              </a:rPr>
              <a:t>Most amphibians lay eggs in water.</a:t>
            </a:r>
          </a:p>
          <a:p>
            <a:pPr algn="just">
              <a:lnSpc>
                <a:spcPts val="3960"/>
              </a:lnSpc>
            </a:pPr>
          </a:p>
          <a:p>
            <a:pPr algn="just" marL="610789" indent="-305395" lvl="1">
              <a:lnSpc>
                <a:spcPts val="3960"/>
              </a:lnSpc>
              <a:buFont typeface="Arial"/>
              <a:buChar char="•"/>
            </a:pPr>
            <a:r>
              <a:rPr lang="en-US" b="true" sz="2829">
                <a:solidFill>
                  <a:srgbClr val="344E41"/>
                </a:solidFill>
                <a:latin typeface="Poppins Bold"/>
                <a:ea typeface="Poppins Bold"/>
                <a:cs typeface="Poppins Bold"/>
                <a:sym typeface="Poppins Bold"/>
              </a:rPr>
              <a:t>They have a three-chambered heart.</a:t>
            </a:r>
          </a:p>
          <a:p>
            <a:pPr algn="just">
              <a:lnSpc>
                <a:spcPts val="3960"/>
              </a:lnSpc>
            </a:pPr>
          </a:p>
          <a:p>
            <a:pPr algn="just" marL="610789" indent="-305395" lvl="1">
              <a:lnSpc>
                <a:spcPts val="39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29">
                <a:solidFill>
                  <a:srgbClr val="344E41"/>
                </a:solidFill>
                <a:latin typeface="Poppins Bold"/>
                <a:ea typeface="Poppins Bold"/>
                <a:cs typeface="Poppins Bold"/>
                <a:sym typeface="Poppins Bold"/>
              </a:rPr>
              <a:t>They usually live in moist environments.</a:t>
            </a:r>
          </a:p>
          <a:p>
            <a:pPr algn="just">
              <a:lnSpc>
                <a:spcPts val="39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2923" y="182563"/>
            <a:ext cx="14122153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0"/>
              </a:lnSpc>
            </a:pPr>
            <a:r>
              <a:rPr lang="en-US" sz="8000">
                <a:solidFill>
                  <a:srgbClr val="344E41"/>
                </a:solidFill>
                <a:latin typeface="Poppins"/>
                <a:ea typeface="Poppins"/>
                <a:cs typeface="Poppins"/>
                <a:sym typeface="Poppins"/>
              </a:rPr>
              <a:t>Exa</a:t>
            </a:r>
            <a:r>
              <a:rPr lang="en-US" sz="8000">
                <a:solidFill>
                  <a:srgbClr val="344E41"/>
                </a:solidFill>
                <a:latin typeface="Poppins"/>
                <a:ea typeface="Poppins"/>
                <a:cs typeface="Poppins"/>
                <a:sym typeface="Poppins"/>
              </a:rPr>
              <a:t>mple</a:t>
            </a:r>
            <a:r>
              <a:rPr lang="en-US" sz="8000">
                <a:solidFill>
                  <a:srgbClr val="344E41"/>
                </a:solidFill>
                <a:latin typeface="Poppins"/>
                <a:ea typeface="Poppins"/>
                <a:cs typeface="Poppins"/>
                <a:sym typeface="Poppins"/>
              </a:rPr>
              <a:t>s of Amphibians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4504116">
            <a:off x="14970256" y="-1466521"/>
            <a:ext cx="4578088" cy="7998028"/>
          </a:xfrm>
          <a:custGeom>
            <a:avLst/>
            <a:gdLst/>
            <a:ahLst/>
            <a:cxnLst/>
            <a:rect r="r" b="b" t="t" l="l"/>
            <a:pathLst>
              <a:path h="7998028" w="4578088">
                <a:moveTo>
                  <a:pt x="0" y="0"/>
                </a:moveTo>
                <a:lnTo>
                  <a:pt x="4578088" y="0"/>
                </a:lnTo>
                <a:lnTo>
                  <a:pt x="4578088" y="7998029"/>
                </a:lnTo>
                <a:lnTo>
                  <a:pt x="0" y="799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4090" y="2239475"/>
            <a:ext cx="3934420" cy="3934420"/>
          </a:xfrm>
          <a:custGeom>
            <a:avLst/>
            <a:gdLst/>
            <a:ahLst/>
            <a:cxnLst/>
            <a:rect r="r" b="b" t="t" l="l"/>
            <a:pathLst>
              <a:path h="3934420" w="3934420">
                <a:moveTo>
                  <a:pt x="0" y="0"/>
                </a:moveTo>
                <a:lnTo>
                  <a:pt x="3934420" y="0"/>
                </a:lnTo>
                <a:lnTo>
                  <a:pt x="3934420" y="3934420"/>
                </a:lnTo>
                <a:lnTo>
                  <a:pt x="0" y="3934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03005" y="2239475"/>
            <a:ext cx="4882745" cy="3934420"/>
          </a:xfrm>
          <a:custGeom>
            <a:avLst/>
            <a:gdLst/>
            <a:ahLst/>
            <a:cxnLst/>
            <a:rect r="r" b="b" t="t" l="l"/>
            <a:pathLst>
              <a:path h="3934420" w="4882745">
                <a:moveTo>
                  <a:pt x="0" y="0"/>
                </a:moveTo>
                <a:lnTo>
                  <a:pt x="4882745" y="0"/>
                </a:lnTo>
                <a:lnTo>
                  <a:pt x="4882745" y="3934420"/>
                </a:lnTo>
                <a:lnTo>
                  <a:pt x="0" y="39344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432" t="-8885" r="-3749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99998" y="2328817"/>
            <a:ext cx="3755736" cy="3755736"/>
          </a:xfrm>
          <a:custGeom>
            <a:avLst/>
            <a:gdLst/>
            <a:ahLst/>
            <a:cxnLst/>
            <a:rect r="r" b="b" t="t" l="l"/>
            <a:pathLst>
              <a:path h="3755736" w="3755736">
                <a:moveTo>
                  <a:pt x="0" y="0"/>
                </a:moveTo>
                <a:lnTo>
                  <a:pt x="3755736" y="0"/>
                </a:lnTo>
                <a:lnTo>
                  <a:pt x="3755736" y="3755736"/>
                </a:lnTo>
                <a:lnTo>
                  <a:pt x="0" y="3755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5636" y="2328817"/>
            <a:ext cx="3755736" cy="3755736"/>
          </a:xfrm>
          <a:custGeom>
            <a:avLst/>
            <a:gdLst/>
            <a:ahLst/>
            <a:cxnLst/>
            <a:rect r="r" b="b" t="t" l="l"/>
            <a:pathLst>
              <a:path h="3755736" w="3755736">
                <a:moveTo>
                  <a:pt x="0" y="0"/>
                </a:moveTo>
                <a:lnTo>
                  <a:pt x="3755737" y="0"/>
                </a:lnTo>
                <a:lnTo>
                  <a:pt x="3755737" y="3755736"/>
                </a:lnTo>
                <a:lnTo>
                  <a:pt x="0" y="3755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330870" y="8586615"/>
            <a:ext cx="8744271" cy="1700385"/>
            <a:chOff x="0" y="0"/>
            <a:chExt cx="2303018" cy="447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3018" cy="447838"/>
            </a:xfrm>
            <a:custGeom>
              <a:avLst/>
              <a:gdLst/>
              <a:ahLst/>
              <a:cxnLst/>
              <a:rect r="r" b="b" t="t" l="l"/>
              <a:pathLst>
                <a:path h="447838" w="2303018">
                  <a:moveTo>
                    <a:pt x="45154" y="0"/>
                  </a:moveTo>
                  <a:lnTo>
                    <a:pt x="2257864" y="0"/>
                  </a:lnTo>
                  <a:cubicBezTo>
                    <a:pt x="2269840" y="0"/>
                    <a:pt x="2281325" y="4757"/>
                    <a:pt x="2289793" y="13225"/>
                  </a:cubicBezTo>
                  <a:cubicBezTo>
                    <a:pt x="2298261" y="21693"/>
                    <a:pt x="2303018" y="33178"/>
                    <a:pt x="2303018" y="45154"/>
                  </a:cubicBezTo>
                  <a:lnTo>
                    <a:pt x="2303018" y="402684"/>
                  </a:lnTo>
                  <a:cubicBezTo>
                    <a:pt x="2303018" y="427622"/>
                    <a:pt x="2282802" y="447838"/>
                    <a:pt x="2257864" y="447838"/>
                  </a:cubicBezTo>
                  <a:lnTo>
                    <a:pt x="45154" y="447838"/>
                  </a:lnTo>
                  <a:cubicBezTo>
                    <a:pt x="33178" y="447838"/>
                    <a:pt x="21693" y="443081"/>
                    <a:pt x="13225" y="434613"/>
                  </a:cubicBezTo>
                  <a:cubicBezTo>
                    <a:pt x="4757" y="426145"/>
                    <a:pt x="0" y="414660"/>
                    <a:pt x="0" y="402684"/>
                  </a:cubicBezTo>
                  <a:lnTo>
                    <a:pt x="0" y="45154"/>
                  </a:lnTo>
                  <a:cubicBezTo>
                    <a:pt x="0" y="20216"/>
                    <a:pt x="20216" y="0"/>
                    <a:pt x="45154" y="0"/>
                  </a:cubicBezTo>
                  <a:close/>
                </a:path>
              </a:pathLst>
            </a:custGeom>
            <a:solidFill>
              <a:srgbClr val="7995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303018" cy="50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Fun Fact:</a:t>
              </a:r>
            </a:p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There are more than 8,000 known species of amphibians around the world!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014090" y="6941706"/>
            <a:ext cx="3934420" cy="164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  <a:spcBef>
                <a:spcPct val="0"/>
              </a:spcBef>
            </a:pPr>
            <a:r>
              <a:rPr lang="en-US" b="true" sz="3114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Frog – The most common amphibian, found near water.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03005" y="7230882"/>
            <a:ext cx="4882745" cy="105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Toad – Similar to frogs but has drier, rougher skin.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70261" y="7230882"/>
            <a:ext cx="3985473" cy="105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Salamander – Has a long body and tail.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6875" y="6713203"/>
            <a:ext cx="3755736" cy="212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Newt – A type of salamander that spends part of its life in water.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167229" cy="10287000"/>
            <a:chOff x="0" y="0"/>
            <a:chExt cx="478478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847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784785">
                  <a:moveTo>
                    <a:pt x="0" y="0"/>
                  </a:moveTo>
                  <a:lnTo>
                    <a:pt x="4784785" y="0"/>
                  </a:lnTo>
                  <a:lnTo>
                    <a:pt x="478478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7441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8478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853205" y="-3364410"/>
            <a:ext cx="22247779" cy="7438791"/>
            <a:chOff x="0" y="0"/>
            <a:chExt cx="29663705" cy="99183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18388" cy="9918388"/>
            </a:xfrm>
            <a:custGeom>
              <a:avLst/>
              <a:gdLst/>
              <a:ahLst/>
              <a:cxnLst/>
              <a:rect r="r" b="b" t="t" l="l"/>
              <a:pathLst>
                <a:path h="9918388" w="9918388">
                  <a:moveTo>
                    <a:pt x="0" y="0"/>
                  </a:moveTo>
                  <a:lnTo>
                    <a:pt x="9918388" y="0"/>
                  </a:lnTo>
                  <a:lnTo>
                    <a:pt x="9918388" y="9918388"/>
                  </a:lnTo>
                  <a:lnTo>
                    <a:pt x="0" y="9918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745317" y="0"/>
              <a:ext cx="9918388" cy="9918388"/>
            </a:xfrm>
            <a:custGeom>
              <a:avLst/>
              <a:gdLst/>
              <a:ahLst/>
              <a:cxnLst/>
              <a:rect r="r" b="b" t="t" l="l"/>
              <a:pathLst>
                <a:path h="9918388" w="9918388">
                  <a:moveTo>
                    <a:pt x="0" y="0"/>
                  </a:moveTo>
                  <a:lnTo>
                    <a:pt x="9918388" y="0"/>
                  </a:lnTo>
                  <a:lnTo>
                    <a:pt x="9918388" y="9918388"/>
                  </a:lnTo>
                  <a:lnTo>
                    <a:pt x="0" y="9918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548594" y="-3364410"/>
            <a:ext cx="7438791" cy="7438791"/>
          </a:xfrm>
          <a:custGeom>
            <a:avLst/>
            <a:gdLst/>
            <a:ahLst/>
            <a:cxnLst/>
            <a:rect r="r" b="b" t="t" l="l"/>
            <a:pathLst>
              <a:path h="7438791" w="7438791">
                <a:moveTo>
                  <a:pt x="0" y="0"/>
                </a:moveTo>
                <a:lnTo>
                  <a:pt x="7438791" y="0"/>
                </a:lnTo>
                <a:lnTo>
                  <a:pt x="7438791" y="7438791"/>
                </a:lnTo>
                <a:lnTo>
                  <a:pt x="0" y="74387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98727" y="1076325"/>
            <a:ext cx="13560573" cy="116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000" spc="-192" b="true">
                <a:solidFill>
                  <a:srgbClr val="EAEAE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Importance of Amphibians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8081" y="-380017"/>
            <a:ext cx="2959850" cy="3192801"/>
          </a:xfrm>
          <a:custGeom>
            <a:avLst/>
            <a:gdLst/>
            <a:ahLst/>
            <a:cxnLst/>
            <a:rect r="r" b="b" t="t" l="l"/>
            <a:pathLst>
              <a:path h="3192801" w="2959850">
                <a:moveTo>
                  <a:pt x="0" y="0"/>
                </a:moveTo>
                <a:lnTo>
                  <a:pt x="2959850" y="0"/>
                </a:lnTo>
                <a:lnTo>
                  <a:pt x="2959850" y="3192801"/>
                </a:lnTo>
                <a:lnTo>
                  <a:pt x="0" y="3192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45231" y="2490475"/>
            <a:ext cx="16089360" cy="97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783" b="true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Control insect populations: Amphibians eat insects such as mosquitoes, flies, and crop pests,</a:t>
            </a:r>
          </a:p>
          <a:p>
            <a:pPr algn="l">
              <a:lnSpc>
                <a:spcPts val="3897"/>
              </a:lnSpc>
              <a:spcBef>
                <a:spcPct val="0"/>
              </a:spcBef>
            </a:pPr>
            <a:r>
              <a:rPr lang="en-US" b="true" sz="2783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                                                        helping to reduce their numbers naturally.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0523" y="4007706"/>
            <a:ext cx="16338777" cy="96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2"/>
              </a:lnSpc>
              <a:spcBef>
                <a:spcPct val="0"/>
              </a:spcBef>
            </a:pPr>
            <a:r>
              <a:rPr lang="en-US" b="true" sz="2744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Serve as food for other animals: Many birds, fish, reptiles, and mammals depend on amphibians as an important food source.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1901" y="5529342"/>
            <a:ext cx="17440047" cy="90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5"/>
              </a:lnSpc>
              <a:spcBef>
                <a:spcPct val="0"/>
              </a:spcBef>
            </a:pPr>
            <a:r>
              <a:rPr lang="en-US" b="true" sz="2582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Help maintain ec</a:t>
            </a:r>
            <a:r>
              <a:rPr lang="en-US" b="true" sz="2582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ological balance: Amphibians are both predators and prey, playing a vital role in food</a:t>
            </a:r>
          </a:p>
          <a:p>
            <a:pPr algn="ctr">
              <a:lnSpc>
                <a:spcPts val="3615"/>
              </a:lnSpc>
              <a:spcBef>
                <a:spcPct val="0"/>
              </a:spcBef>
            </a:pPr>
            <a:r>
              <a:rPr lang="en-US" b="true" sz="2582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 chains and ecosystem stability.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2376" y="6988178"/>
            <a:ext cx="16723248" cy="89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6"/>
              </a:lnSpc>
              <a:spcBef>
                <a:spcPct val="0"/>
              </a:spcBef>
            </a:pPr>
            <a:r>
              <a:rPr lang="en-US" b="true" sz="2561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Indicators of envir</a:t>
            </a:r>
            <a:r>
              <a:rPr lang="en-US" b="true" sz="2561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onmental health: Because their skin is sensitive to pollution and environmental changes, scientists use amphibians to monitor the health of ecosystems.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8081" y="8440164"/>
            <a:ext cx="17023660" cy="9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4"/>
              </a:lnSpc>
              <a:spcBef>
                <a:spcPct val="0"/>
              </a:spcBef>
            </a:pPr>
            <a:r>
              <a:rPr lang="en-US" b="true" sz="2589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C</a:t>
            </a:r>
            <a:r>
              <a:rPr lang="en-US" b="true" sz="2589">
                <a:solidFill>
                  <a:srgbClr val="EAEAEA"/>
                </a:solidFill>
                <a:latin typeface="Raleway Bold"/>
                <a:ea typeface="Raleway Bold"/>
                <a:cs typeface="Raleway Bold"/>
                <a:sym typeface="Raleway Bold"/>
              </a:rPr>
              <a:t>ontribute to scientific research: Some amphibians are studied in medicine and biology because of their unique skin secretions and ability to regenerate body parts.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85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8308" y="0"/>
            <a:ext cx="11019692" cy="10287000"/>
            <a:chOff x="0" y="0"/>
            <a:chExt cx="4155565" cy="38792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55565" cy="3879264"/>
            </a:xfrm>
            <a:custGeom>
              <a:avLst/>
              <a:gdLst/>
              <a:ahLst/>
              <a:cxnLst/>
              <a:rect r="r" b="b" t="t" l="l"/>
              <a:pathLst>
                <a:path h="3879264" w="4155565">
                  <a:moveTo>
                    <a:pt x="0" y="0"/>
                  </a:moveTo>
                  <a:lnTo>
                    <a:pt x="4155565" y="0"/>
                  </a:lnTo>
                  <a:lnTo>
                    <a:pt x="4155565" y="3879264"/>
                  </a:lnTo>
                  <a:lnTo>
                    <a:pt x="0" y="3879264"/>
                  </a:lnTo>
                  <a:close/>
                </a:path>
              </a:pathLst>
            </a:custGeom>
            <a:solidFill>
              <a:srgbClr val="0F9F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155565" cy="3907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16923" y="7194194"/>
            <a:ext cx="3751385" cy="3092806"/>
            <a:chOff x="0" y="0"/>
            <a:chExt cx="1414661" cy="11663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4661" cy="1166308"/>
            </a:xfrm>
            <a:custGeom>
              <a:avLst/>
              <a:gdLst/>
              <a:ahLst/>
              <a:cxnLst/>
              <a:rect r="r" b="b" t="t" l="l"/>
              <a:pathLst>
                <a:path h="1166308" w="1414661">
                  <a:moveTo>
                    <a:pt x="0" y="0"/>
                  </a:moveTo>
                  <a:lnTo>
                    <a:pt x="1414661" y="0"/>
                  </a:lnTo>
                  <a:lnTo>
                    <a:pt x="1414661" y="1166308"/>
                  </a:lnTo>
                  <a:lnTo>
                    <a:pt x="0" y="1166308"/>
                  </a:lnTo>
                  <a:close/>
                </a:path>
              </a:pathLst>
            </a:custGeom>
            <a:solidFill>
              <a:srgbClr val="AB9C7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14661" cy="1194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34462" y="7194194"/>
            <a:ext cx="3751385" cy="3092806"/>
            <a:chOff x="0" y="0"/>
            <a:chExt cx="1414661" cy="11663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4661" cy="1166308"/>
            </a:xfrm>
            <a:custGeom>
              <a:avLst/>
              <a:gdLst/>
              <a:ahLst/>
              <a:cxnLst/>
              <a:rect r="r" b="b" t="t" l="l"/>
              <a:pathLst>
                <a:path h="1166308" w="1414661">
                  <a:moveTo>
                    <a:pt x="0" y="0"/>
                  </a:moveTo>
                  <a:lnTo>
                    <a:pt x="1414661" y="0"/>
                  </a:lnTo>
                  <a:lnTo>
                    <a:pt x="1414661" y="1166308"/>
                  </a:lnTo>
                  <a:lnTo>
                    <a:pt x="0" y="1166308"/>
                  </a:lnTo>
                  <a:close/>
                </a:path>
              </a:pathLst>
            </a:custGeom>
            <a:solidFill>
              <a:srgbClr val="AB9C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14661" cy="1194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45949" y="6506163"/>
            <a:ext cx="3150140" cy="3150140"/>
          </a:xfrm>
          <a:custGeom>
            <a:avLst/>
            <a:gdLst/>
            <a:ahLst/>
            <a:cxnLst/>
            <a:rect r="r" b="b" t="t" l="l"/>
            <a:pathLst>
              <a:path h="3150140" w="3150140">
                <a:moveTo>
                  <a:pt x="0" y="0"/>
                </a:moveTo>
                <a:lnTo>
                  <a:pt x="3150140" y="0"/>
                </a:lnTo>
                <a:lnTo>
                  <a:pt x="3150140" y="3150140"/>
                </a:lnTo>
                <a:lnTo>
                  <a:pt x="0" y="3150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65580" y="667589"/>
            <a:ext cx="7420661" cy="218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1"/>
              </a:lnSpc>
            </a:pPr>
            <a:r>
              <a:rPr lang="en-US" sz="9066" spc="-852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Habitat of Amphibians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51938" y="3152431"/>
            <a:ext cx="9907362" cy="665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1857" indent="-315929" lvl="1">
              <a:lnSpc>
                <a:spcPts val="4097"/>
              </a:lnSpc>
              <a:buFont typeface="Arial"/>
              <a:buChar char="•"/>
            </a:pPr>
            <a:r>
              <a:rPr lang="en-US" b="true" sz="2926" spc="-2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Ponds: Many amphibians lay their eggs and spend part of their life cycle in ponds.</a:t>
            </a:r>
          </a:p>
          <a:p>
            <a:pPr algn="just">
              <a:lnSpc>
                <a:spcPts val="4097"/>
              </a:lnSpc>
            </a:pPr>
          </a:p>
          <a:p>
            <a:pPr algn="just" marL="631857" indent="-315929" lvl="1">
              <a:lnSpc>
                <a:spcPts val="4097"/>
              </a:lnSpc>
              <a:buFont typeface="Arial"/>
              <a:buChar char="•"/>
            </a:pPr>
            <a:r>
              <a:rPr lang="en-US" b="true" sz="2926" spc="-2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Lakes: Lakes provide water, food, and shelter for various amphibian species.</a:t>
            </a:r>
          </a:p>
          <a:p>
            <a:pPr algn="just">
              <a:lnSpc>
                <a:spcPts val="4097"/>
              </a:lnSpc>
            </a:pPr>
          </a:p>
          <a:p>
            <a:pPr algn="just" marL="631857" indent="-315929" lvl="1">
              <a:lnSpc>
                <a:spcPts val="4097"/>
              </a:lnSpc>
              <a:buFont typeface="Arial"/>
              <a:buChar char="•"/>
            </a:pPr>
            <a:r>
              <a:rPr lang="en-US" b="true" sz="2926" spc="-2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Wetlands: Wetlands are ideal habitats because they remain moist and support a rich variety of plants and animals.</a:t>
            </a:r>
          </a:p>
          <a:p>
            <a:pPr algn="just">
              <a:lnSpc>
                <a:spcPts val="4097"/>
              </a:lnSpc>
            </a:pPr>
          </a:p>
          <a:p>
            <a:pPr algn="just" marL="631857" indent="-315929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 spc="-2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Forests near water bodies: Amphibians often live in damp forest areas close to rivers, streams, ponds, or lakes.</a:t>
            </a:r>
          </a:p>
          <a:p>
            <a:pPr algn="just">
              <a:lnSpc>
                <a:spcPts val="409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63107" y="331142"/>
            <a:ext cx="6715824" cy="147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2"/>
              </a:lnSpc>
            </a:pPr>
            <a:r>
              <a:rPr lang="en-US" b="true" sz="4201" spc="-2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Moist Environments Are Important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3107" y="2042624"/>
            <a:ext cx="6715824" cy="4777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3212" indent="-326606" lvl="1">
              <a:lnSpc>
                <a:spcPts val="4265"/>
              </a:lnSpc>
              <a:buFont typeface="Arial"/>
              <a:buChar char="•"/>
            </a:pPr>
            <a:r>
              <a:rPr lang="en-US" b="true" sz="3025" spc="-20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Amphibians have thin, m</a:t>
            </a:r>
            <a:r>
              <a:rPr lang="en-US" b="true" sz="3025" spc="-20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oist skin that helps them breathe and absorb water.</a:t>
            </a:r>
          </a:p>
          <a:p>
            <a:pPr algn="ctr" marL="653212" indent="-326606" lvl="1">
              <a:lnSpc>
                <a:spcPts val="4265"/>
              </a:lnSpc>
              <a:buFont typeface="Arial"/>
              <a:buChar char="•"/>
            </a:pPr>
            <a:r>
              <a:rPr lang="en-US" b="true" sz="3025" spc="-20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Dry conditions can cause them to lose water quickly and become dehydrated.</a:t>
            </a:r>
          </a:p>
          <a:p>
            <a:pPr algn="ctr" marL="653212" indent="-326606" lvl="1">
              <a:lnSpc>
                <a:spcPts val="4265"/>
              </a:lnSpc>
              <a:buFont typeface="Arial"/>
              <a:buChar char="•"/>
            </a:pPr>
            <a:r>
              <a:rPr lang="en-US" b="true" sz="3025" spc="-20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Most amphibians need water for reproduction and egg-laying.</a:t>
            </a:r>
          </a:p>
          <a:p>
            <a:pPr algn="ctr">
              <a:lnSpc>
                <a:spcPts val="426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9C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7121" y="1531586"/>
            <a:ext cx="12430853" cy="442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9"/>
              </a:lnSpc>
            </a:pPr>
            <a:r>
              <a:rPr lang="en-US" sz="20669">
                <a:solidFill>
                  <a:srgbClr val="344E41"/>
                </a:solidFill>
                <a:latin typeface="Bahir"/>
                <a:ea typeface="Bahir"/>
                <a:cs typeface="Bahir"/>
                <a:sym typeface="Bahir"/>
              </a:rPr>
              <a:t>THREATS TO AMPHIBIANS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1784842"/>
            <a:ext cx="8132165" cy="93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9"/>
              </a:lnSpc>
            </a:pPr>
            <a:r>
              <a:rPr lang="en-US" b="true" sz="2489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Deforestation, urbanization, and draining of wetlands reduce the natural habitats where amphibians live and breed.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16327" y="1334713"/>
            <a:ext cx="5417326" cy="31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b="true" sz="2451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HABITAT DESTRUCTION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34233" y="8107428"/>
            <a:ext cx="7741931" cy="115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2"/>
              </a:lnSpc>
            </a:pPr>
            <a:r>
              <a:rPr lang="en-US" sz="3012" b="true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3012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ertain fungal diseases and infections have caused major declines in amphibian populations worldwide.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16327" y="7617722"/>
            <a:ext cx="7280104" cy="43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3294" b="true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</a:t>
            </a:r>
            <a:r>
              <a:rPr lang="en-US" b="true" sz="3294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47549" y="3930144"/>
            <a:ext cx="7725067" cy="70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1"/>
              </a:lnSpc>
            </a:pPr>
            <a:r>
              <a:rPr lang="en-US" sz="2771" b="true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</a:t>
            </a:r>
            <a:r>
              <a:rPr lang="en-US" b="true" sz="2771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emicals, pesticides, and waste in water bodies can harm amphibians and their eggs.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6327" y="3480015"/>
            <a:ext cx="5417326" cy="31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2451" b="true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451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3988" y="5931145"/>
            <a:ext cx="7805312" cy="10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8"/>
              </a:lnSpc>
            </a:pPr>
            <a:r>
              <a:rPr lang="en-US" sz="2708" b="true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Chang</a:t>
            </a:r>
            <a:r>
              <a:rPr lang="en-US" b="true" sz="2708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 in temperature and rainfall patterns can affect breeding, food availability, and survival.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16327" y="5191125"/>
            <a:ext cx="5417326" cy="31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2451" b="true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CLIM</a:t>
            </a:r>
            <a:r>
              <a:rPr lang="en-US" b="true" sz="2451">
                <a:solidFill>
                  <a:srgbClr val="344E4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ATE CHANGE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-351849" y="8654289"/>
            <a:ext cx="2761099" cy="2018112"/>
          </a:xfrm>
          <a:custGeom>
            <a:avLst/>
            <a:gdLst/>
            <a:ahLst/>
            <a:cxnLst/>
            <a:rect r="r" b="b" t="t" l="l"/>
            <a:pathLst>
              <a:path h="2018112" w="2761099">
                <a:moveTo>
                  <a:pt x="2761098" y="0"/>
                </a:moveTo>
                <a:lnTo>
                  <a:pt x="0" y="0"/>
                </a:lnTo>
                <a:lnTo>
                  <a:pt x="0" y="2018112"/>
                </a:lnTo>
                <a:lnTo>
                  <a:pt x="2761098" y="2018112"/>
                </a:lnTo>
                <a:lnTo>
                  <a:pt x="27610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666646" y="19399"/>
            <a:ext cx="4621354" cy="1181964"/>
          </a:xfrm>
          <a:custGeom>
            <a:avLst/>
            <a:gdLst/>
            <a:ahLst/>
            <a:cxnLst/>
            <a:rect r="r" b="b" t="t" l="l"/>
            <a:pathLst>
              <a:path h="1181964" w="4621354">
                <a:moveTo>
                  <a:pt x="0" y="0"/>
                </a:moveTo>
                <a:lnTo>
                  <a:pt x="4621354" y="0"/>
                </a:lnTo>
                <a:lnTo>
                  <a:pt x="4621354" y="1181964"/>
                </a:lnTo>
                <a:lnTo>
                  <a:pt x="0" y="1181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37718" y="94488"/>
            <a:ext cx="4621354" cy="1181964"/>
          </a:xfrm>
          <a:custGeom>
            <a:avLst/>
            <a:gdLst/>
            <a:ahLst/>
            <a:cxnLst/>
            <a:rect r="r" b="b" t="t" l="l"/>
            <a:pathLst>
              <a:path h="1181964" w="4621354">
                <a:moveTo>
                  <a:pt x="0" y="0"/>
                </a:moveTo>
                <a:lnTo>
                  <a:pt x="4621354" y="0"/>
                </a:lnTo>
                <a:lnTo>
                  <a:pt x="4621354" y="1181964"/>
                </a:lnTo>
                <a:lnTo>
                  <a:pt x="0" y="1181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24" y="4561474"/>
            <a:ext cx="8424414" cy="409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Effects</a:t>
            </a:r>
          </a:p>
          <a:p>
            <a:pPr algn="ctr">
              <a:lnSpc>
                <a:spcPts val="5342"/>
              </a:lnSpc>
              <a:spcBef>
                <a:spcPct val="0"/>
              </a:spcBef>
            </a:pPr>
            <a:r>
              <a:rPr lang="en-US" b="true" sz="3816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Decrease in amphibian populations.</a:t>
            </a:r>
          </a:p>
          <a:p>
            <a:pPr algn="ctr">
              <a:lnSpc>
                <a:spcPts val="5342"/>
              </a:lnSpc>
              <a:spcBef>
                <a:spcPct val="0"/>
              </a:spcBef>
            </a:pPr>
            <a:r>
              <a:rPr lang="en-US" b="true" sz="3816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Disruption of food chains and ecosystems.</a:t>
            </a:r>
          </a:p>
          <a:p>
            <a:pPr algn="ctr">
              <a:lnSpc>
                <a:spcPts val="5342"/>
              </a:lnSpc>
              <a:spcBef>
                <a:spcPct val="0"/>
              </a:spcBef>
            </a:pPr>
            <a:r>
              <a:rPr lang="en-US" b="true" sz="3816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Some species are becoming endangered or extinct.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95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1223" y="8827718"/>
            <a:ext cx="3917143" cy="861165"/>
            <a:chOff x="0" y="0"/>
            <a:chExt cx="1031676" cy="226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676" cy="226809"/>
            </a:xfrm>
            <a:custGeom>
              <a:avLst/>
              <a:gdLst/>
              <a:ahLst/>
              <a:cxnLst/>
              <a:rect r="r" b="b" t="t" l="l"/>
              <a:pathLst>
                <a:path h="226809" w="1031676">
                  <a:moveTo>
                    <a:pt x="113404" y="0"/>
                  </a:moveTo>
                  <a:lnTo>
                    <a:pt x="918271" y="0"/>
                  </a:lnTo>
                  <a:cubicBezTo>
                    <a:pt x="948348" y="0"/>
                    <a:pt x="977193" y="11948"/>
                    <a:pt x="998460" y="33215"/>
                  </a:cubicBezTo>
                  <a:cubicBezTo>
                    <a:pt x="1019728" y="54483"/>
                    <a:pt x="1031676" y="83328"/>
                    <a:pt x="1031676" y="113404"/>
                  </a:cubicBezTo>
                  <a:lnTo>
                    <a:pt x="1031676" y="113404"/>
                  </a:lnTo>
                  <a:cubicBezTo>
                    <a:pt x="1031676" y="143481"/>
                    <a:pt x="1019728" y="172326"/>
                    <a:pt x="998460" y="193593"/>
                  </a:cubicBezTo>
                  <a:cubicBezTo>
                    <a:pt x="977193" y="214861"/>
                    <a:pt x="948348" y="226809"/>
                    <a:pt x="918271" y="226809"/>
                  </a:cubicBezTo>
                  <a:lnTo>
                    <a:pt x="113404" y="226809"/>
                  </a:lnTo>
                  <a:cubicBezTo>
                    <a:pt x="83328" y="226809"/>
                    <a:pt x="54483" y="214861"/>
                    <a:pt x="33215" y="193593"/>
                  </a:cubicBezTo>
                  <a:cubicBezTo>
                    <a:pt x="11948" y="172326"/>
                    <a:pt x="0" y="143481"/>
                    <a:pt x="0" y="113404"/>
                  </a:cubicBezTo>
                  <a:lnTo>
                    <a:pt x="0" y="113404"/>
                  </a:lnTo>
                  <a:cubicBezTo>
                    <a:pt x="0" y="83328"/>
                    <a:pt x="11948" y="54483"/>
                    <a:pt x="33215" y="33215"/>
                  </a:cubicBezTo>
                  <a:cubicBezTo>
                    <a:pt x="54483" y="11948"/>
                    <a:pt x="83328" y="0"/>
                    <a:pt x="113404" y="0"/>
                  </a:cubicBezTo>
                  <a:close/>
                </a:path>
              </a:pathLst>
            </a:custGeom>
            <a:solidFill>
              <a:srgbClr val="97A4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31676" cy="236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55060" y="2202313"/>
            <a:ext cx="10504240" cy="5882375"/>
          </a:xfrm>
          <a:custGeom>
            <a:avLst/>
            <a:gdLst/>
            <a:ahLst/>
            <a:cxnLst/>
            <a:rect r="r" b="b" t="t" l="l"/>
            <a:pathLst>
              <a:path h="5882375" w="10504240">
                <a:moveTo>
                  <a:pt x="0" y="0"/>
                </a:moveTo>
                <a:lnTo>
                  <a:pt x="10504240" y="0"/>
                </a:lnTo>
                <a:lnTo>
                  <a:pt x="10504240" y="5882374"/>
                </a:lnTo>
                <a:lnTo>
                  <a:pt x="0" y="5882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62685" y="493148"/>
            <a:ext cx="12782523" cy="145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72"/>
              </a:lnSpc>
            </a:pPr>
            <a:r>
              <a:rPr lang="en-US" b="true" sz="12036">
                <a:solidFill>
                  <a:srgbClr val="AB9C7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THANK YOU 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28727" y="8926512"/>
            <a:ext cx="905790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25353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Any questions?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6210" y="1230002"/>
            <a:ext cx="6171211" cy="787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4"/>
              </a:lnSpc>
              <a:spcBef>
                <a:spcPct val="0"/>
              </a:spcBef>
            </a:pPr>
            <a:r>
              <a:rPr lang="en-US" b="true" sz="2524">
                <a:solidFill>
                  <a:srgbClr val="05261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AMPHIBIANS ARE UNIQUE VERTEBRATES THAT CAN LIVE BOTH IN WATER AND ON LAND.</a:t>
            </a:r>
          </a:p>
          <a:p>
            <a:pPr algn="ctr">
              <a:lnSpc>
                <a:spcPts val="2524"/>
              </a:lnSpc>
              <a:spcBef>
                <a:spcPct val="0"/>
              </a:spcBef>
            </a:pPr>
          </a:p>
          <a:p>
            <a:pPr algn="ctr">
              <a:lnSpc>
                <a:spcPts val="2524"/>
              </a:lnSpc>
              <a:spcBef>
                <a:spcPct val="0"/>
              </a:spcBef>
            </a:pPr>
            <a:r>
              <a:rPr lang="en-US" b="true" sz="2524">
                <a:solidFill>
                  <a:srgbClr val="05261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 HAVE SPECIAL ADAPTATIONS, SUCH AS MOIST SKIN AND METAMORPHOSIS, THAT HELP THEM SURVIVE IN DIFFERENT ENVIRONMENTS.</a:t>
            </a:r>
          </a:p>
          <a:p>
            <a:pPr algn="ctr">
              <a:lnSpc>
                <a:spcPts val="2524"/>
              </a:lnSpc>
              <a:spcBef>
                <a:spcPct val="0"/>
              </a:spcBef>
            </a:pPr>
          </a:p>
          <a:p>
            <a:pPr algn="ctr">
              <a:lnSpc>
                <a:spcPts val="2524"/>
              </a:lnSpc>
              <a:spcBef>
                <a:spcPct val="0"/>
              </a:spcBef>
            </a:pPr>
            <a:r>
              <a:rPr lang="en-US" b="true" sz="2524">
                <a:solidFill>
                  <a:srgbClr val="05261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AMPHIBIANS PLAY AN IMPORTANT ROLE IN ECOSYSTEMS BY CONTROLLING INSECT POPULATIONS AND SERVING AS FOOD FOR OTHER ANIMALS.</a:t>
            </a:r>
          </a:p>
          <a:p>
            <a:pPr algn="ctr">
              <a:lnSpc>
                <a:spcPts val="2524"/>
              </a:lnSpc>
              <a:spcBef>
                <a:spcPct val="0"/>
              </a:spcBef>
            </a:pPr>
          </a:p>
          <a:p>
            <a:pPr algn="ctr">
              <a:lnSpc>
                <a:spcPts val="2524"/>
              </a:lnSpc>
              <a:spcBef>
                <a:spcPct val="0"/>
              </a:spcBef>
            </a:pPr>
            <a:r>
              <a:rPr lang="en-US" b="true" sz="2524">
                <a:solidFill>
                  <a:srgbClr val="05261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 ARE SENSITIVE TO ENVIRONMENTAL CHANGES, MAKING THEM IMPORTANT INDICATORS OF ECOSYSTEM HEALTH.</a:t>
            </a:r>
          </a:p>
          <a:p>
            <a:pPr algn="ctr">
              <a:lnSpc>
                <a:spcPts val="2524"/>
              </a:lnSpc>
              <a:spcBef>
                <a:spcPct val="0"/>
              </a:spcBef>
            </a:pPr>
          </a:p>
          <a:p>
            <a:pPr algn="ctr">
              <a:lnSpc>
                <a:spcPts val="2524"/>
              </a:lnSpc>
              <a:spcBef>
                <a:spcPct val="0"/>
              </a:spcBef>
            </a:pPr>
            <a:r>
              <a:rPr lang="en-US" b="true" sz="2524">
                <a:solidFill>
                  <a:srgbClr val="05261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PROTECTING AMPHIBIANS AND THEIR HABITATS HELPS PRESERVE BIODIVERSITY AND MAINTAIN ECOLOGICAL BALANCE.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DAHLPVxdguI</dc:identifier>
  <dcterms:modified xsi:type="dcterms:W3CDTF">2011-08-01T06:04:30Z</dcterms:modified>
  <cp:revision>1</cp:revision>
  <dc:title>Non Text Magic Studio Magic Design for Presentations L&amp;P</dc:title>
</cp:coreProperties>
</file>